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8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8.png"/><Relationship Id="rId7" Type="http://schemas.openxmlformats.org/officeDocument/2006/relationships/image" Target="../media/image11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5" name="椭圆 4"/>
              <p:cNvSpPr/>
              <p:nvPr/>
            </p:nvSpPr>
            <p:spPr>
              <a:xfrm>
                <a:off x="5187950" y="1601470"/>
                <a:ext cx="1026795" cy="999490"/>
              </a:xfrm>
              <a:prstGeom prst="ellipse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∑     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椭圆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950" y="1601470"/>
                <a:ext cx="1026795" cy="999490"/>
              </a:xfrm>
              <a:prstGeom prst="ellipse">
                <a:avLst/>
              </a:prstGeom>
              <a:blipFill rotWithShape="1">
                <a:blip r:embed="rId1"/>
                <a:stretch>
                  <a:fillRect l="-680" t="-699" r="-618" b="-635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/>
          <p:cNvCxnSpPr>
            <a:stCxn id="5" idx="0"/>
            <a:endCxn id="5" idx="4"/>
          </p:cNvCxnSpPr>
          <p:nvPr/>
        </p:nvCxnSpPr>
        <p:spPr>
          <a:xfrm>
            <a:off x="5701665" y="1601470"/>
            <a:ext cx="0" cy="99949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endCxn id="5" idx="1"/>
          </p:cNvCxnSpPr>
          <p:nvPr/>
        </p:nvCxnSpPr>
        <p:spPr>
          <a:xfrm>
            <a:off x="3258820" y="1136015"/>
            <a:ext cx="2079625" cy="6121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endCxn id="5" idx="3"/>
          </p:cNvCxnSpPr>
          <p:nvPr/>
        </p:nvCxnSpPr>
        <p:spPr>
          <a:xfrm flipV="1">
            <a:off x="3314700" y="2454275"/>
            <a:ext cx="2023745" cy="3403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endCxn id="5" idx="4"/>
          </p:cNvCxnSpPr>
          <p:nvPr/>
        </p:nvCxnSpPr>
        <p:spPr>
          <a:xfrm flipV="1">
            <a:off x="3337560" y="2600960"/>
            <a:ext cx="2364105" cy="1524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654935" y="824230"/>
                <a:ext cx="343535" cy="4025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935" y="824230"/>
                <a:ext cx="343535" cy="402590"/>
              </a:xfrm>
              <a:prstGeom prst="rect">
                <a:avLst/>
              </a:prstGeom>
              <a:blipFill rotWithShape="1">
                <a:blip r:embed="rId2"/>
                <a:stretch>
                  <a:fillRect r="-43438" b="-32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2635885" y="2600960"/>
                <a:ext cx="343535" cy="4025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885" y="2600960"/>
                <a:ext cx="343535" cy="402590"/>
              </a:xfrm>
              <a:prstGeom prst="rect">
                <a:avLst/>
              </a:prstGeom>
              <a:blipFill rotWithShape="1">
                <a:blip r:embed="rId3"/>
                <a:stretch>
                  <a:fillRect r="-43438" b="-32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4280535" y="1024890"/>
                <a:ext cx="343535" cy="4025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535" y="1024890"/>
                <a:ext cx="343535" cy="402590"/>
              </a:xfrm>
              <a:prstGeom prst="rect">
                <a:avLst/>
              </a:prstGeom>
              <a:blipFill rotWithShape="1">
                <a:blip r:embed="rId4"/>
                <a:stretch>
                  <a:fillRect r="-67837" b="-32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4197985" y="2051685"/>
                <a:ext cx="343535" cy="4025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985" y="2051685"/>
                <a:ext cx="343535" cy="402590"/>
              </a:xfrm>
              <a:prstGeom prst="rect">
                <a:avLst/>
              </a:prstGeom>
              <a:blipFill rotWithShape="1">
                <a:blip r:embed="rId5"/>
                <a:stretch>
                  <a:fillRect r="-67837" b="-32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4197985" y="3500755"/>
                <a:ext cx="78867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altLang="zh-CN" sz="28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985" y="3500755"/>
                <a:ext cx="788670" cy="52197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2635885" y="4051300"/>
            <a:ext cx="537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Cambria Math" panose="02040503050406030204" charset="0"/>
                <a:cs typeface="Cambria Math" panose="02040503050406030204" charset="0"/>
              </a:rPr>
              <a:t>1</a:t>
            </a:r>
            <a:endParaRPr lang="en-US" altLang="zh-CN" sz="2800">
              <a:latin typeface="Cambria Math" panose="02040503050406030204" charset="0"/>
              <a:cs typeface="Cambria Math" panose="02040503050406030204" charset="0"/>
            </a:endParaRPr>
          </a:p>
        </p:txBody>
      </p:sp>
      <p:cxnSp>
        <p:nvCxnSpPr>
          <p:cNvPr id="22" name="直接箭头连接符 21"/>
          <p:cNvCxnSpPr>
            <a:stCxn id="5" idx="6"/>
          </p:cNvCxnSpPr>
          <p:nvPr/>
        </p:nvCxnSpPr>
        <p:spPr>
          <a:xfrm flipV="1">
            <a:off x="6214745" y="2087245"/>
            <a:ext cx="1533525" cy="139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277225" y="1427480"/>
            <a:ext cx="115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output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8039036" y="1825244"/>
                <a:ext cx="207264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^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ℎ𝑎𝑡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∈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9036" y="1825244"/>
                <a:ext cx="2072640" cy="368300"/>
              </a:xfrm>
              <a:prstGeom prst="rect">
                <a:avLst/>
              </a:prstGeom>
              <a:blipFill rotWithShape="1">
                <a:blip r:embed="rId7"/>
                <a:stretch>
                  <a:fillRect l="-28" t="-69" r="2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7975536" y="2668524"/>
                <a:ext cx="234442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𝑒𝑟𝑟𝑜𝑟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^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ℎ𝑎𝑡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536" y="2668524"/>
                <a:ext cx="2344420" cy="368300"/>
              </a:xfrm>
              <a:prstGeom prst="rect">
                <a:avLst/>
              </a:prstGeom>
              <a:blipFill rotWithShape="1">
                <a:blip r:embed="rId8"/>
                <a:stretch>
                  <a:fillRect l="-24" t="-69" r="24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8039036" y="4205224"/>
                <a:ext cx="199771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∆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𝑤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𝜂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𝑒𝑟𝑟𝑜𝑟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9036" y="4205224"/>
                <a:ext cx="1997710" cy="368300"/>
              </a:xfrm>
              <a:prstGeom prst="rect">
                <a:avLst/>
              </a:prstGeom>
              <a:blipFill rotWithShape="1">
                <a:blip r:embed="rId9"/>
                <a:stretch>
                  <a:fillRect l="-29" t="-69" r="2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3523551" y="4205224"/>
                <a:ext cx="217805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+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𝛥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551" y="4205224"/>
                <a:ext cx="2178050" cy="368300"/>
              </a:xfrm>
              <a:prstGeom prst="rect">
                <a:avLst/>
              </a:prstGeom>
              <a:blipFill rotWithShape="1">
                <a:blip r:embed="rId10"/>
                <a:stretch>
                  <a:fillRect l="-26" t="-69" r="26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19"/>
          <p:cNvCxnSpPr>
            <a:endCxn id="10" idx="0"/>
          </p:cNvCxnSpPr>
          <p:nvPr/>
        </p:nvCxnSpPr>
        <p:spPr>
          <a:xfrm>
            <a:off x="9128760" y="2258060"/>
            <a:ext cx="19050" cy="410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0" idx="2"/>
          </p:cNvCxnSpPr>
          <p:nvPr/>
        </p:nvCxnSpPr>
        <p:spPr>
          <a:xfrm flipH="1">
            <a:off x="9144000" y="3036570"/>
            <a:ext cx="3810" cy="11264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1" idx="1"/>
            <a:endCxn id="16" idx="3"/>
          </p:cNvCxnSpPr>
          <p:nvPr/>
        </p:nvCxnSpPr>
        <p:spPr>
          <a:xfrm flipH="1">
            <a:off x="5701665" y="4389120"/>
            <a:ext cx="23374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097780" y="3654425"/>
            <a:ext cx="1208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update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5" name="椭圆 4"/>
              <p:cNvSpPr/>
              <p:nvPr/>
            </p:nvSpPr>
            <p:spPr>
              <a:xfrm>
                <a:off x="5187950" y="1601470"/>
                <a:ext cx="1026795" cy="999490"/>
              </a:xfrm>
              <a:prstGeom prst="ellipse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∑     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椭圆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950" y="1601470"/>
                <a:ext cx="1026795" cy="999490"/>
              </a:xfrm>
              <a:prstGeom prst="ellipse">
                <a:avLst/>
              </a:prstGeom>
              <a:blipFill rotWithShape="1">
                <a:blip r:embed="rId1"/>
                <a:stretch>
                  <a:fillRect l="-680" t="-699" r="-618" b="-635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/>
          <p:cNvCxnSpPr>
            <a:stCxn id="5" idx="0"/>
            <a:endCxn id="5" idx="4"/>
          </p:cNvCxnSpPr>
          <p:nvPr/>
        </p:nvCxnSpPr>
        <p:spPr>
          <a:xfrm>
            <a:off x="5701665" y="1601470"/>
            <a:ext cx="0" cy="99949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endCxn id="5" idx="1"/>
          </p:cNvCxnSpPr>
          <p:nvPr/>
        </p:nvCxnSpPr>
        <p:spPr>
          <a:xfrm>
            <a:off x="3258820" y="1136015"/>
            <a:ext cx="2079625" cy="6121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endCxn id="5" idx="3"/>
          </p:cNvCxnSpPr>
          <p:nvPr/>
        </p:nvCxnSpPr>
        <p:spPr>
          <a:xfrm flipV="1">
            <a:off x="3314700" y="2454275"/>
            <a:ext cx="2023745" cy="3403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endCxn id="5" idx="4"/>
          </p:cNvCxnSpPr>
          <p:nvPr/>
        </p:nvCxnSpPr>
        <p:spPr>
          <a:xfrm flipV="1">
            <a:off x="3337560" y="2600960"/>
            <a:ext cx="2364105" cy="1524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654935" y="824230"/>
                <a:ext cx="343535" cy="4025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935" y="824230"/>
                <a:ext cx="343535" cy="402590"/>
              </a:xfrm>
              <a:prstGeom prst="rect">
                <a:avLst/>
              </a:prstGeom>
              <a:blipFill rotWithShape="1">
                <a:blip r:embed="rId2"/>
                <a:stretch>
                  <a:fillRect r="-43438" b="-32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2635885" y="2600960"/>
                <a:ext cx="343535" cy="4025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885" y="2600960"/>
                <a:ext cx="343535" cy="402590"/>
              </a:xfrm>
              <a:prstGeom prst="rect">
                <a:avLst/>
              </a:prstGeom>
              <a:blipFill rotWithShape="1">
                <a:blip r:embed="rId3"/>
                <a:stretch>
                  <a:fillRect r="-43438" b="-32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4280535" y="1024890"/>
                <a:ext cx="343535" cy="4025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535" y="1024890"/>
                <a:ext cx="343535" cy="402590"/>
              </a:xfrm>
              <a:prstGeom prst="rect">
                <a:avLst/>
              </a:prstGeom>
              <a:blipFill rotWithShape="1">
                <a:blip r:embed="rId4"/>
                <a:stretch>
                  <a:fillRect r="-67837" b="-32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4197985" y="2051685"/>
                <a:ext cx="343535" cy="4025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985" y="2051685"/>
                <a:ext cx="343535" cy="402590"/>
              </a:xfrm>
              <a:prstGeom prst="rect">
                <a:avLst/>
              </a:prstGeom>
              <a:blipFill rotWithShape="1">
                <a:blip r:embed="rId5"/>
                <a:stretch>
                  <a:fillRect r="-67837" b="-32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4197985" y="3500755"/>
                <a:ext cx="78867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altLang="zh-CN" sz="28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985" y="3500755"/>
                <a:ext cx="788670" cy="52197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2635885" y="4051300"/>
            <a:ext cx="537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Cambria Math" panose="02040503050406030204" charset="0"/>
                <a:cs typeface="Cambria Math" panose="02040503050406030204" charset="0"/>
              </a:rPr>
              <a:t>1</a:t>
            </a:r>
            <a:endParaRPr lang="en-US" altLang="zh-CN" sz="2800">
              <a:latin typeface="Cambria Math" panose="02040503050406030204" charset="0"/>
              <a:cs typeface="Cambria Math" panose="02040503050406030204" charset="0"/>
            </a:endParaRPr>
          </a:p>
        </p:txBody>
      </p:sp>
      <p:cxnSp>
        <p:nvCxnSpPr>
          <p:cNvPr id="22" name="直接箭头连接符 21"/>
          <p:cNvCxnSpPr>
            <a:stCxn id="5" idx="6"/>
          </p:cNvCxnSpPr>
          <p:nvPr/>
        </p:nvCxnSpPr>
        <p:spPr>
          <a:xfrm flipV="1">
            <a:off x="6214745" y="2087245"/>
            <a:ext cx="1533525" cy="139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277225" y="1427480"/>
            <a:ext cx="115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output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8039036" y="1825244"/>
                <a:ext cx="212344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^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ℎ𝑎𝑡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’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∈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9036" y="1825244"/>
                <a:ext cx="2123440" cy="368300"/>
              </a:xfrm>
              <a:prstGeom prst="rect">
                <a:avLst/>
              </a:prstGeom>
              <a:blipFill rotWithShape="1">
                <a:blip r:embed="rId7"/>
                <a:stretch>
                  <a:fillRect l="-27" t="-69" r="27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7681531" y="4205224"/>
                <a:ext cx="234442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𝑒𝑟𝑟𝑜𝑟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^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ℎ𝑎𝑡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531" y="4205224"/>
                <a:ext cx="2344420" cy="368300"/>
              </a:xfrm>
              <a:prstGeom prst="rect">
                <a:avLst/>
              </a:prstGeom>
              <a:blipFill rotWithShape="1">
                <a:blip r:embed="rId8"/>
                <a:stretch>
                  <a:fillRect l="-24" t="-69" r="24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3523551" y="4205224"/>
                <a:ext cx="332105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𝜂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𝑒𝑟𝑟𝑜𝑟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551" y="4205224"/>
                <a:ext cx="3321050" cy="368300"/>
              </a:xfrm>
              <a:prstGeom prst="rect">
                <a:avLst/>
              </a:prstGeom>
              <a:blipFill rotWithShape="1">
                <a:blip r:embed="rId9"/>
                <a:stretch>
                  <a:fillRect l="-17" t="-69" r="17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箭头连接符 22"/>
          <p:cNvCxnSpPr>
            <a:endCxn id="16" idx="3"/>
          </p:cNvCxnSpPr>
          <p:nvPr/>
        </p:nvCxnSpPr>
        <p:spPr>
          <a:xfrm flipH="1">
            <a:off x="6844665" y="4381500"/>
            <a:ext cx="588645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097780" y="3756660"/>
            <a:ext cx="1208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update</a:t>
            </a:r>
            <a:endParaRPr lang="en-US" altLang="zh-CN"/>
          </a:p>
        </p:txBody>
      </p:sp>
      <p:cxnSp>
        <p:nvCxnSpPr>
          <p:cNvPr id="2" name="直接箭头连接符 1"/>
          <p:cNvCxnSpPr>
            <a:stCxn id="5" idx="5"/>
            <a:endCxn id="10" idx="0"/>
          </p:cNvCxnSpPr>
          <p:nvPr/>
        </p:nvCxnSpPr>
        <p:spPr>
          <a:xfrm>
            <a:off x="6064250" y="2454275"/>
            <a:ext cx="2789555" cy="17506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WPS 演示</Application>
  <PresentationFormat>宽屏</PresentationFormat>
  <Paragraphs>50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Cambria Math</vt:lpstr>
      <vt:lpstr>MS Mincho</vt:lpstr>
      <vt:lpstr>Calibri</vt:lpstr>
      <vt:lpstr>微软雅黑</vt:lpstr>
      <vt:lpstr>Arial Unicode MS</vt:lpstr>
      <vt:lpstr>Segoe Print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无声铃鹿</dc:creator>
  <cp:lastModifiedBy>lenovo</cp:lastModifiedBy>
  <cp:revision>8</cp:revision>
  <dcterms:created xsi:type="dcterms:W3CDTF">2023-08-09T12:44:00Z</dcterms:created>
  <dcterms:modified xsi:type="dcterms:W3CDTF">2025-10-09T15:10:23Z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